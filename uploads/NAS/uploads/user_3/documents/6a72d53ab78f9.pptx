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86EFE8-AAA0-46F9-9076-A22F2AD33575}">
  <a:tblStyle styleId="{1086EFE8-AAA0-46F9-9076-A22F2AD335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CE6"/>
          </a:solidFill>
        </a:fill>
      </a:tcStyle>
    </a:wholeTbl>
    <a:band1H>
      <a:tcTxStyle/>
      <a:tcStyle>
        <a:fill>
          <a:solidFill>
            <a:srgbClr val="F5D8CA"/>
          </a:solidFill>
        </a:fill>
      </a:tcStyle>
    </a:band1H>
    <a:band2H>
      <a:tcTxStyle/>
    </a:band2H>
    <a:band1V>
      <a:tcTxStyle/>
      <a:tcStyle>
        <a:fill>
          <a:solidFill>
            <a:srgbClr val="F5D8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52" name="Google Shape;52;p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8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8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1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hyperlink" Target="https://huggingface.co/spaces/skmunwarbasha/deepfake-detection-syste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idx="4294967295" type="ctrTitle"/>
          </p:nvPr>
        </p:nvSpPr>
        <p:spPr>
          <a:xfrm>
            <a:off x="2052831" y="482242"/>
            <a:ext cx="8220075" cy="1761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Times New Roman"/>
              <a:buNone/>
            </a:pPr>
            <a:r>
              <a:rPr b="1" i="0" lang="en-IN" sz="48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Deepfake detection using Deep Learning</a:t>
            </a:r>
            <a:endParaRPr b="0" i="0" sz="48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-780201" y="3618538"/>
            <a:ext cx="7644063" cy="164030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IN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:-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Prof. G. Rama Mohan Babu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 &amp; Head, CSE(AIML) 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8367597" y="2598003"/>
            <a:ext cx="246707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 :-</a:t>
            </a:r>
            <a:r>
              <a:rPr b="1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C20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6411812" y="3776972"/>
            <a:ext cx="541639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4" marL="1828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 -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	Shaik Munwar Basha    L23CM210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	Yeruva Koushik Reddy L23CM215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	Yeruva Srinivas Reddy  L23CM216</a:t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555" y="386992"/>
            <a:ext cx="1549276" cy="145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0578" y="386992"/>
            <a:ext cx="1062601" cy="14352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1728512" y="2711697"/>
            <a:ext cx="2626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Code: CM461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141382" y="5258843"/>
            <a:ext cx="103597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(AIML)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R.V.R &amp; J.C COLLEGE OF ENGINEERING , CHOWDAVARAM, GUNTUR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4914900" y="5982948"/>
            <a:ext cx="2362200" cy="370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346366" y="33782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I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r>
              <a:rPr b="1"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IN" sz="2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1838305" y="1896428"/>
            <a:ext cx="9158970" cy="41000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607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306070" lvl="0" marL="34290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PROBLEM STATEMENT  </a:t>
            </a:r>
            <a:endParaRPr/>
          </a:p>
          <a:p>
            <a:pPr indent="-306070" lvl="0" marL="34290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LITERATURE SURVEY </a:t>
            </a:r>
            <a:endParaRPr/>
          </a:p>
          <a:p>
            <a:pPr indent="-269875" lvl="1" marL="72009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🞚"/>
            </a:pPr>
            <a:r>
              <a:rPr b="1" i="0" lang="en-IN" sz="121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/>
          </a:p>
          <a:p>
            <a:pPr indent="-306070" lvl="0" marL="34290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/>
          </a:p>
          <a:p>
            <a:pPr indent="-306070" lvl="0" marL="34290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DATASET USED</a:t>
            </a:r>
            <a:endParaRPr/>
          </a:p>
          <a:p>
            <a:pPr indent="-306070" lvl="0" marL="34290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PROPOSED METHODOLOGY</a:t>
            </a:r>
            <a:endParaRPr/>
          </a:p>
          <a:p>
            <a:pPr indent="-269875" lvl="1" marL="72009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🞚"/>
            </a:pPr>
            <a:r>
              <a:rPr b="1" i="0" lang="en-IN" sz="121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SYSTEM ARCHITECTURES</a:t>
            </a:r>
            <a:endParaRPr/>
          </a:p>
          <a:p>
            <a:pPr indent="-269875" lvl="1" marL="72009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🞚"/>
            </a:pPr>
            <a:r>
              <a:rPr b="1" i="0" lang="en-IN" sz="121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ALGORITHMS/ MODELS USED</a:t>
            </a:r>
            <a:endParaRPr/>
          </a:p>
          <a:p>
            <a:pPr indent="-306070" lvl="0" marL="34290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/>
          </a:p>
          <a:p>
            <a:pPr indent="-269875" lvl="1" marL="72009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🞚"/>
            </a:pPr>
            <a:r>
              <a:rPr b="1" i="0" lang="en-IN" sz="121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TOOLS &amp; TECHNOLOGIES</a:t>
            </a:r>
            <a:endParaRPr/>
          </a:p>
          <a:p>
            <a:pPr indent="-306070" lvl="0" marL="34290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RESULTS AND ANALYSIS</a:t>
            </a:r>
            <a:endParaRPr/>
          </a:p>
          <a:p>
            <a:pPr indent="-306070" lvl="0" marL="34290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  <a:p>
            <a:pPr indent="-306070" lvl="0" marL="34290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Char char="◈"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842"/>
              </a:spcBef>
              <a:spcAft>
                <a:spcPts val="0"/>
              </a:spcAft>
              <a:buClr>
                <a:schemeClr val="dk2"/>
              </a:buClr>
              <a:buSzPts val="847"/>
              <a:buFont typeface="Noto Sans Symbols"/>
              <a:buNone/>
            </a:pPr>
            <a:r>
              <a:rPr b="1" lang="en-IN" sz="121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864"/>
              </a:spcBef>
              <a:spcAft>
                <a:spcPts val="0"/>
              </a:spcAft>
              <a:buClr>
                <a:schemeClr val="dk2"/>
              </a:buClr>
              <a:buSzPts val="924"/>
              <a:buFont typeface="Noto Sans Symbols"/>
              <a:buNone/>
            </a:pPr>
            <a:r>
              <a:t/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type="title"/>
          </p:nvPr>
        </p:nvSpPr>
        <p:spPr>
          <a:xfrm>
            <a:off x="838200" y="862639"/>
            <a:ext cx="10515600" cy="7557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5"/>
          <p:cNvSpPr txBox="1"/>
          <p:nvPr>
            <p:ph idx="1" type="body"/>
          </p:nvPr>
        </p:nvSpPr>
        <p:spPr>
          <a:xfrm>
            <a:off x="630739" y="1455839"/>
            <a:ext cx="10515600" cy="5106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9144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3525" lvl="0" marL="355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Rapid advancements in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Artificial Intelligence (AI), Machine Learning, and Deep Learning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have led to powerful tools for manipulating multimedia content. </a:t>
            </a:r>
            <a:endParaRPr/>
          </a:p>
          <a:p>
            <a:pPr indent="-263525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These manipulations, known as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deepfakes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, are highly realistic and difficult for humans to detect.</a:t>
            </a:r>
            <a:endParaRPr/>
          </a:p>
          <a:p>
            <a:pPr indent="-263525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With the development of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Generative Adversarial Networks (GANs)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 and diffusion models, deepfake content has become more advanced and widespread. </a:t>
            </a:r>
            <a:endParaRPr/>
          </a:p>
          <a:p>
            <a:pPr indent="-263525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Deepfakes pose serious threats to: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Digital security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Information integrity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Social media trust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Personal privacy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Democratic processes </a:t>
            </a:r>
            <a:endParaRPr/>
          </a:p>
          <a:p>
            <a:pPr indent="0" lvl="0" marL="9144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9861" y="4009102"/>
            <a:ext cx="3618271" cy="1809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>
            <p:ph type="title"/>
          </p:nvPr>
        </p:nvSpPr>
        <p:spPr>
          <a:xfrm>
            <a:off x="1178560" y="92668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PROBLEM STATEMENT  </a:t>
            </a:r>
            <a:br>
              <a:rPr lang="en-IN"/>
            </a:br>
            <a:endParaRPr/>
          </a:p>
        </p:txBody>
      </p:sp>
      <p:sp>
        <p:nvSpPr>
          <p:cNvPr id="132" name="Google Shape;132;p16"/>
          <p:cNvSpPr txBox="1"/>
          <p:nvPr>
            <p:ph idx="1" type="body"/>
          </p:nvPr>
        </p:nvSpPr>
        <p:spPr>
          <a:xfrm>
            <a:off x="1097280" y="1567798"/>
            <a:ext cx="10574128" cy="4494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55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increasing availability of deepfake tools has made it easy to create highly realistic fake content. 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detection methods struggle to identify </a:t>
            </a: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high-quality deepfakes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machine learning approaches rely on </a:t>
            </a: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feature engineering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while deep learning models often require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computational resources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Deepfakes look almost real, making them hard to detect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 system that: </a:t>
            </a:r>
            <a:endParaRPr/>
          </a:p>
          <a:p>
            <a:pPr indent="-180975" lvl="0" marL="7207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</a:t>
            </a: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accuracy</a:t>
            </a: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975" lvl="0" marL="7207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for both </a:t>
            </a: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and videos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55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Project Goal: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63023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 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To develop an intelligent system that can accurately distinguish between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real and deepfake images and videos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2131136" y="760450"/>
            <a:ext cx="8911687" cy="5852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  <p:graphicFrame>
        <p:nvGraphicFramePr>
          <p:cNvPr id="138" name="Google Shape;138;p17"/>
          <p:cNvGraphicFramePr/>
          <p:nvPr/>
        </p:nvGraphicFramePr>
        <p:xfrm>
          <a:off x="1168400" y="20201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{1086EFE8-AAA0-46F9-9076-A22F2AD33575}</a:tableStyleId>
              </a:tblPr>
              <a:tblGrid>
                <a:gridCol w="822950"/>
                <a:gridCol w="2479050"/>
                <a:gridCol w="2672075"/>
                <a:gridCol w="2468875"/>
                <a:gridCol w="1513850"/>
              </a:tblGrid>
              <a:tr h="41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S.No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Method/Model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Dataset Used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Technique Used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Accuracy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4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SVM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Real &amp; Fake Face Dataset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Handcrafted Features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65%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2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Random Forest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Real &amp; Fake Face Dataset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Statistical Feature-Based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70% 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2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3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CNN (Basic)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FaceForensics++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Convolutional Neural Network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75%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4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VGG16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Celeb-DF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Deep CNN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78%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1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ResNet-50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Real &amp; Fake Face Dataset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Residual Learning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80%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2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GAN + ResNet Hybrid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Real &amp; Fake Face Dataset (2041 Images)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Generative + CNN Hybrid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83% 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905116" y="743538"/>
            <a:ext cx="10442727" cy="7752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4" name="Google Shape;144;p18"/>
          <p:cNvGraphicFramePr/>
          <p:nvPr/>
        </p:nvGraphicFramePr>
        <p:xfrm>
          <a:off x="1096963" y="18462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{1086EFE8-AAA0-46F9-9076-A22F2AD33575}</a:tableStyleId>
              </a:tblPr>
              <a:tblGrid>
                <a:gridCol w="5029200"/>
                <a:gridCol w="5029200"/>
              </a:tblGrid>
              <a:tr h="50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Existing Models (Literature)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Research Gap (Identified Problem)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87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Use traditional ML (SVM, RF) with handcrafted features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Low accuracy and poor feature representation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CNN models (VGG, ResNet) focus on spatial features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 Lack of temporal feature learning for videos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ResNet-based models are computationally heavy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Need for lightweight and efficient architectures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GAN-based hybrid models improve accuracy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Training instability and high complexity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Models detect only image-based deepfakes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No unified system for both images and videos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87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Limited focus on important regions (no attention)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Need for attention mechanisms to detect subtle artifacts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EXISTING WORKFLOW DIAGRAM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122" y="1856423"/>
            <a:ext cx="6321238" cy="446711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7325360" y="2032000"/>
            <a:ext cx="4287520" cy="3788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existing system uses a hybrid model combining GAN and ResNet for deepfake detection.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 is used to extract deep spatial and texture features from images.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 generates realistic fake images and helps improve detection capability.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⮚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discriminator learns to distinguish between real and fake faces.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PROJECT OBJECTIVES</a:t>
            </a:r>
            <a:r>
              <a:rPr lang="en-IN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1706880" y="1937174"/>
            <a:ext cx="94488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To develop a highly accurate deepfake detection system.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To detect both fake images and fake videos.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To use EfficientNet models for parameter-efficient feature extraction.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To apply attention mechanisms (CBAM &amp; Temporal Attention) for better feature focus.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To capture both spatial and temporal features using deep learning models.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To improve overall detection performance compared to existing models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>
            <p:ph idx="4294967295" type="title"/>
          </p:nvPr>
        </p:nvSpPr>
        <p:spPr>
          <a:xfrm>
            <a:off x="1524000" y="224631"/>
            <a:ext cx="100584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DATASET USED</a:t>
            </a:r>
            <a:endParaRPr/>
          </a:p>
        </p:txBody>
      </p:sp>
      <p:sp>
        <p:nvSpPr>
          <p:cNvPr id="163" name="Google Shape;163;p21"/>
          <p:cNvSpPr txBox="1"/>
          <p:nvPr>
            <p:ph idx="4294967295" type="body"/>
          </p:nvPr>
        </p:nvSpPr>
        <p:spPr>
          <a:xfrm>
            <a:off x="609600" y="1001058"/>
            <a:ext cx="10547350" cy="5632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Dataset: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140k Real and Fake Faces with ELA (Error Level Analysis).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Dataset: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Celeb-DF-v2 (Sequence Analysis). </a:t>
            </a:r>
            <a:endParaRPr/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Breakdown: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5,299 fake videos (Celeb-synthesis) and 712 real videos (Celeb-real &amp; YouTube-real).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4" name="Google Shape;164;p21"/>
          <p:cNvGraphicFramePr/>
          <p:nvPr/>
        </p:nvGraphicFramePr>
        <p:xfrm>
          <a:off x="1229360" y="14476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{1086EFE8-AAA0-46F9-9076-A22F2AD33575}</a:tableStyleId>
              </a:tblPr>
              <a:tblGrid>
                <a:gridCol w="1978650"/>
                <a:gridCol w="1978650"/>
                <a:gridCol w="1978650"/>
                <a:gridCol w="1978650"/>
              </a:tblGrid>
              <a:tr h="32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Split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Total Samples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Fake Samples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Real Samples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Training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100,000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50,000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50,000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Validation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20,000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10,000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10,000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Testing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20,000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10,000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10,000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Total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1,40,000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70,000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70,000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65" name="Google Shape;165;p21"/>
          <p:cNvGraphicFramePr/>
          <p:nvPr/>
        </p:nvGraphicFramePr>
        <p:xfrm>
          <a:off x="1229360" y="3876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{1086EFE8-AAA0-46F9-9076-A22F2AD33575}</a:tableStyleId>
              </a:tblPr>
              <a:tblGrid>
                <a:gridCol w="1882150"/>
                <a:gridCol w="1882150"/>
                <a:gridCol w="1882150"/>
                <a:gridCol w="1882150"/>
              </a:tblGrid>
              <a:tr h="299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Split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Total Videos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Fake Videos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Real Videos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Training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4,808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4,238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570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Validation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1,203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1,061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142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Testing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9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Total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6,011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5,299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712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idx="4294967295" type="title"/>
          </p:nvPr>
        </p:nvSpPr>
        <p:spPr>
          <a:xfrm>
            <a:off x="1639887" y="246063"/>
            <a:ext cx="8912225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PROPOSED MODEL </a:t>
            </a:r>
            <a:endParaRPr/>
          </a:p>
        </p:txBody>
      </p:sp>
      <p:pic>
        <p:nvPicPr>
          <p:cNvPr id="172" name="Google Shape;1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8920" y="1403235"/>
            <a:ext cx="9154161" cy="4051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1234440" y="599440"/>
            <a:ext cx="9723120" cy="583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</a:t>
            </a:r>
            <a:endParaRPr/>
          </a:p>
          <a:p>
            <a:pPr indent="0" lvl="0" marL="3556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dual-domain deepfake detection system</a:t>
            </a: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proposed for both </a:t>
            </a: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and videos</a:t>
            </a: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EfficientNet with attention mechanisms</a:t>
            </a: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instead of heavy ResNet models.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Image-Based Detection</a:t>
            </a:r>
            <a:endParaRPr/>
          </a:p>
          <a:p>
            <a:pPr indent="0" lvl="0" marL="3556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 </a:t>
            </a: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EfficientNet-B4 + CBAM</a:t>
            </a: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Steps: 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preprocessing (ELA) 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using EfficientNet-B4 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CBAM highlights important regions 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 layers 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Real/Fake classification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Video-Based Detection</a:t>
            </a:r>
            <a:endParaRPr/>
          </a:p>
          <a:p>
            <a:pPr indent="0" lvl="0" marL="3556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 </a:t>
            </a: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EfficientNet-B0 + BiLSTM + Temporal Attention</a:t>
            </a: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Steps: 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frames from video 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 (EfficientNet-B0) 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learning using BiLSTM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attention selects key frames</a:t>
            </a:r>
            <a:endParaRPr/>
          </a:p>
          <a:p>
            <a:pPr indent="-285750" lvl="1" marL="985838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⮚"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classification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1640156" y="706780"/>
            <a:ext cx="8911687" cy="7562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PROPOSED SYSTEM WORKFLOW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1280145" y="1854937"/>
            <a:ext cx="10335690" cy="429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55600" lvl="0" marL="355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Real and Fake Face dataset containing real images, deepfake images, and videos.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Pre-Processing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Image resizing, normalization, data augmentation, and frame extraction for videos.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EfficientNet-B4 extracts high-level spatial features from images.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EfficientNet-B0 extracts frame-level features from video sequences.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Attention Mechanisms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CBAM highlights important spatial and channel features in images.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Temporal Attention selects important frames in videos.</a:t>
            </a:r>
            <a:endParaRPr/>
          </a:p>
          <a:p>
            <a:pPr indent="0" lvl="1" marL="20116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63525" lvl="0" marL="2635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Model Selection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Hybrid deep learning model using EfficientNet + Attention + BiLSTM.</a:t>
            </a:r>
            <a:endParaRPr/>
          </a:p>
          <a:p>
            <a:pPr indent="-263525" lvl="0" marL="263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Train–Test Split and Model Fitting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Dataset split into training and testing sets.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Model trained using binary cross-entropy loss and Adam optimizer.</a:t>
            </a:r>
            <a:endParaRPr/>
          </a:p>
          <a:p>
            <a:pPr indent="-263525" lvl="0" marL="263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Temporal Modeling (Video)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BiLSTM captures temporal dependencies between video frames.</a:t>
            </a:r>
            <a:endParaRPr/>
          </a:p>
          <a:p>
            <a:pPr indent="-263525" lvl="0" marL="263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Model Evaluation and Deployment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Performance evaluated using accuracy, precision, recall, and F1-score.</a:t>
            </a:r>
            <a:b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Trained model used for real-time deepfake detection of images and videos.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1097280" y="394977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TOOLS &amp; TECHNOLOGIES</a:t>
            </a:r>
            <a:br>
              <a:rPr lang="en-IN"/>
            </a:br>
            <a:endParaRPr/>
          </a:p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Programming Language: 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Deep Learning Frameworks: 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TensorFlow/Keras, PyTorch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Data Processing &amp; Visualization: 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Pandas, NumPy, Matplotlib, Seaborn, PIL 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Hardware Accelerator: 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Dual Kaggle GPUs (Tesla T4 x2 / Tesla P100)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Deployment &amp; Hosting: 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Hugging Face Spaces (for building a web-based interactive interface).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2349085" y="290337"/>
            <a:ext cx="8911687" cy="595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RESULTS AND ANALYSIS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054" y="885427"/>
            <a:ext cx="5321004" cy="3002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9" y="885427"/>
            <a:ext cx="5831840" cy="300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054" y="4129262"/>
            <a:ext cx="5321004" cy="2728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5999" y="3987023"/>
            <a:ext cx="5831840" cy="2870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243840"/>
            <a:ext cx="5435601" cy="331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61" y="285723"/>
            <a:ext cx="5577840" cy="3228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199" y="3429001"/>
            <a:ext cx="5435600" cy="29108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 txBox="1"/>
          <p:nvPr/>
        </p:nvSpPr>
        <p:spPr>
          <a:xfrm>
            <a:off x="7223760" y="4830168"/>
            <a:ext cx="4196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60" y="350456"/>
            <a:ext cx="10220960" cy="5908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1272233" y="655323"/>
            <a:ext cx="9647532" cy="837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810696" y="1844989"/>
            <a:ext cx="10570607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55600" lvl="0" marL="355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This project presents an effective deepfake detection system using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EfficientNet and attention mechanisms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The model successfully captures both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spatial features (images)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temporal patterns (videos)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Compared to traditional methods, it provides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better accuracy with lower computational cost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Attention modules help in focusing on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manipulated facial regions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, improving detection performance. 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The system demonstrates strong potential for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real-world applications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like cybersecurity and media verification. </a:t>
            </a:r>
            <a:endParaRPr/>
          </a:p>
          <a:p>
            <a:pPr indent="-355600" lvl="0" marL="355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Overall, the proposed approach offers a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robust, scalable, and efficient solution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for deepfake detection.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1721993" y="329679"/>
            <a:ext cx="8911687" cy="7239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Times New Roman"/>
              <a:buNone/>
            </a:pP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1147749" y="1782294"/>
            <a:ext cx="10617740" cy="4022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63525" lvl="0" marL="2635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real-time deepfake detection system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for instant analysis. </a:t>
            </a:r>
            <a:endParaRPr/>
          </a:p>
          <a:p>
            <a:pPr indent="-263525" lvl="0" marL="263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Deploy the model as a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web extension or API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for social media platforms. </a:t>
            </a:r>
            <a:endParaRPr/>
          </a:p>
          <a:p>
            <a:pPr indent="-263525" lvl="0" marL="263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Expand the framework for multimodal forgery detection, including synthetic media, generated text, and digitally manipulated identity documentsUse advanced architectures like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transformers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for improved performance. </a:t>
            </a:r>
            <a:endParaRPr/>
          </a:p>
          <a:p>
            <a:pPr indent="-263525" lvl="0" marL="263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Optimize the model using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quantization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for deployment on mobile and edge devices. </a:t>
            </a:r>
            <a:endParaRPr/>
          </a:p>
          <a:p>
            <a:pPr indent="-263525" lvl="0" marL="263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Expand datasets to include </a:t>
            </a:r>
            <a:r>
              <a:rPr b="1" lang="en-IN" sz="2000">
                <a:latin typeface="Times New Roman"/>
                <a:ea typeface="Times New Roman"/>
                <a:cs typeface="Times New Roman"/>
                <a:sym typeface="Times New Roman"/>
              </a:rPr>
              <a:t>audio-visual and multimodal deepfake detection</a:t>
            </a: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for better generalization.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1772792" y="741015"/>
            <a:ext cx="8911687" cy="7239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IN" sz="3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919766" y="1822934"/>
            <a:ext cx="10617740" cy="4740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46088" lvl="0" marL="53816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 sz="2000"/>
              <a:t>[1] N. A. S. Eldien, R. E. Ali, and F. A. Moussa, "</a:t>
            </a:r>
            <a:r>
              <a:rPr i="1" lang="en-IN" sz="2000"/>
              <a:t>Real and fake face detection: Acomprehensive evaluation of machine learning and deep learning techniques for improved performance“, in IEEE MTT-S Int. Microw. Symp. Dig.,</a:t>
            </a:r>
            <a:r>
              <a:rPr lang="en-IN" sz="2000"/>
              <a:t> Jul. 2023, pp. 315 320. </a:t>
            </a:r>
            <a:endParaRPr/>
          </a:p>
          <a:p>
            <a:pPr indent="-446088" lvl="0" marL="538163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2000"/>
              <a:t>[2]  S. Safwat, A. Mahmoud, I. E. Fattoh, and F. Ali, "</a:t>
            </a:r>
            <a:r>
              <a:rPr i="1" lang="en-IN" sz="2000"/>
              <a:t>Hybrid Deep Learning Model Based on GAN and RESNET for Detecting Fake Faces," IEEE Access,</a:t>
            </a:r>
            <a:r>
              <a:rPr lang="en-IN" sz="2000"/>
              <a:t> vol. 12, pp. 86391–86402, 2024. DOI:10.1109/ACCESS. 2024. 3416910. </a:t>
            </a:r>
            <a:endParaRPr/>
          </a:p>
          <a:p>
            <a:pPr indent="-446088" lvl="0" marL="538163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 sz="2000"/>
              <a:t>[3]  B. Chesney and D. Citron, "</a:t>
            </a:r>
            <a:r>
              <a:rPr i="1" lang="en-IN" sz="2000"/>
              <a:t>Deep fakes: A looming challenge for privacy, 	democracy, and national security," Calif. L. Rev., vol. 107, p. 1753, Jan. 2019. [4] 	M. Tan and Q. Le, "EfficientNet: Rethinking Model Scaling for Convolutional 	Neural Networks," in Proc. Int. Conf. Machine Learning (ICML)</a:t>
            </a:r>
            <a:r>
              <a:rPr lang="en-IN" sz="2000"/>
              <a:t>, 2019.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0" name="Google Shape;240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